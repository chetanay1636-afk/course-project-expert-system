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Lora"/>
      <p:regular r:id="rId17"/>
    </p:embeddedFont>
    <p:embeddedFont>
      <p:font typeface="Lora"/>
      <p:regular r:id="rId18"/>
    </p:embeddedFont>
    <p:embeddedFont>
      <p:font typeface="Lora"/>
      <p:regular r:id="rId19"/>
    </p:embeddedFont>
    <p:embeddedFont>
      <p:font typeface="Lora"/>
      <p:regular r:id="rId20"/>
    </p:embeddedFont>
    <p:embeddedFont>
      <p:font typeface="Source Sans 3"/>
      <p:regular r:id="rId21"/>
    </p:embeddedFont>
    <p:embeddedFont>
      <p:font typeface="Source Sans 3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5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image" Target="../media/image-5-11.png"/><Relationship Id="rId12" Type="http://schemas.openxmlformats.org/officeDocument/2006/relationships/image" Target="../media/image-5-12.svg"/><Relationship Id="rId13" Type="http://schemas.openxmlformats.org/officeDocument/2006/relationships/slideLayout" Target="../slideLayouts/slideLayout6.xml"/><Relationship Id="rId1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slideLayout" Target="../slideLayouts/slideLayout7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4.png"/><Relationship Id="rId5" Type="http://schemas.openxmlformats.org/officeDocument/2006/relationships/image" Target="../media/image-7-5.svg"/><Relationship Id="rId6" Type="http://schemas.openxmlformats.org/officeDocument/2006/relationships/image" Target="../media/image-7-6.png"/><Relationship Id="rId7" Type="http://schemas.openxmlformats.org/officeDocument/2006/relationships/image" Target="../media/image-7-7.svg"/><Relationship Id="rId8" Type="http://schemas.openxmlformats.org/officeDocument/2006/relationships/image" Target="../media/image-7-8.png"/><Relationship Id="rId9" Type="http://schemas.openxmlformats.org/officeDocument/2006/relationships/image" Target="../media/image-7-9.svg"/><Relationship Id="rId10" Type="http://schemas.openxmlformats.org/officeDocument/2006/relationships/slideLayout" Target="../slideLayouts/slideLayout8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sv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slideLayout" Target="../slideLayouts/slideLayout9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hyperlink" Target="https://chetanay1636-afk.github.io/course-project-expert-system/" TargetMode="External"/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5" Type="http://schemas.openxmlformats.org/officeDocument/2006/relationships/slideLayout" Target="../slideLayouts/slideLayout1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1165994"/>
            <a:ext cx="4667845" cy="1320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Course Project Recommendation Expert System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415900" y="2710383"/>
            <a:ext cx="2366814" cy="1267123"/>
          </a:xfrm>
          <a:prstGeom prst="roundRect">
            <a:avLst>
              <a:gd name="adj" fmla="val 1771"/>
            </a:avLst>
          </a:prstGeom>
          <a:solidFill>
            <a:srgbClr val="C49F8C"/>
          </a:solidFill>
          <a:ln/>
        </p:spPr>
      </p:sp>
      <p:sp>
        <p:nvSpPr>
          <p:cNvPr id="5" name="Text 2"/>
          <p:cNvSpPr/>
          <p:nvPr/>
        </p:nvSpPr>
        <p:spPr>
          <a:xfrm>
            <a:off x="565472" y="2859956"/>
            <a:ext cx="22173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Student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565472" y="3229496"/>
            <a:ext cx="2524869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AI And Data Science 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65472" y="3603501"/>
            <a:ext cx="2524869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Department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3044726" y="2859956"/>
            <a:ext cx="2378943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Academic Year 2025-26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044726" y="3229496"/>
            <a:ext cx="2151459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First Year Capstone Project Presentation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718840"/>
            <a:ext cx="22173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49F8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Background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523577" y="998637"/>
            <a:ext cx="4830589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What Is an Expert System?</a:t>
            </a:r>
            <a:endParaRPr lang="en-US" sz="2750" dirty="0"/>
          </a:p>
        </p:txBody>
      </p:sp>
      <p:sp>
        <p:nvSpPr>
          <p:cNvPr id="4" name="Text 2"/>
          <p:cNvSpPr/>
          <p:nvPr/>
        </p:nvSpPr>
        <p:spPr>
          <a:xfrm>
            <a:off x="523577" y="1797621"/>
            <a:ext cx="4289003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expert system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is an AI program that simulates the decision-making ability of a human specialist. It uses a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knowledge base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and an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inference engine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to provide intelligent recommendations — making expert-level guidance accessible to everyone.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23577" y="2889796"/>
            <a:ext cx="4289003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 academic settings, students often struggle to identify projects that align with their skills and interests. An intelligent recommendation system bridges this gap by applying rule-based logic to deliver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personalized, actionable project suggestions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182270" y="1831256"/>
            <a:ext cx="1646634" cy="1367433"/>
          </a:xfrm>
          <a:prstGeom prst="roundRect">
            <a:avLst>
              <a:gd name="adj" fmla="val 1641"/>
            </a:avLst>
          </a:prstGeom>
          <a:solidFill>
            <a:srgbClr val="444752"/>
          </a:solidFill>
          <a:ln/>
        </p:spPr>
      </p:sp>
      <p:sp>
        <p:nvSpPr>
          <p:cNvPr id="7" name="Text 5"/>
          <p:cNvSpPr/>
          <p:nvPr/>
        </p:nvSpPr>
        <p:spPr>
          <a:xfrm>
            <a:off x="5331842" y="1980828"/>
            <a:ext cx="1804690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Knowledge Base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331842" y="2350368"/>
            <a:ext cx="1347490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Stores domain expertise and rules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978476" y="1831256"/>
            <a:ext cx="1646634" cy="1367433"/>
          </a:xfrm>
          <a:prstGeom prst="roundRect">
            <a:avLst>
              <a:gd name="adj" fmla="val 1641"/>
            </a:avLst>
          </a:prstGeom>
          <a:solidFill>
            <a:srgbClr val="444752"/>
          </a:solidFill>
          <a:ln/>
        </p:spPr>
      </p:sp>
      <p:sp>
        <p:nvSpPr>
          <p:cNvPr id="10" name="Text 8"/>
          <p:cNvSpPr/>
          <p:nvPr/>
        </p:nvSpPr>
        <p:spPr>
          <a:xfrm>
            <a:off x="7128049" y="1980828"/>
            <a:ext cx="1347490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Inference Engine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128049" y="2570336"/>
            <a:ext cx="1347490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Applies logic to draw conclusions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182270" y="3348261"/>
            <a:ext cx="3442841" cy="908075"/>
          </a:xfrm>
          <a:prstGeom prst="roundRect">
            <a:avLst>
              <a:gd name="adj" fmla="val 2471"/>
            </a:avLst>
          </a:prstGeom>
          <a:solidFill>
            <a:srgbClr val="444752"/>
          </a:solidFill>
          <a:ln/>
        </p:spPr>
      </p:sp>
      <p:sp>
        <p:nvSpPr>
          <p:cNvPr id="13" name="Text 11"/>
          <p:cNvSpPr/>
          <p:nvPr/>
        </p:nvSpPr>
        <p:spPr>
          <a:xfrm>
            <a:off x="5331842" y="3497833"/>
            <a:ext cx="22173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User Interface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331842" y="3867373"/>
            <a:ext cx="3600896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Connects student to the system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44392" y="446112"/>
            <a:ext cx="3922440" cy="433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Problem Statement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3944392" y="1096714"/>
            <a:ext cx="4684216" cy="1103561"/>
          </a:xfrm>
          <a:prstGeom prst="roundRect">
            <a:avLst>
              <a:gd name="adj" fmla="val 8286"/>
            </a:avLst>
          </a:prstGeom>
          <a:solidFill>
            <a:srgbClr val="252833"/>
          </a:solidFill>
          <a:ln w="19050">
            <a:solidFill>
              <a:srgbClr val="5D606B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5342" y="1096714"/>
            <a:ext cx="76200" cy="110356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167857" y="1263030"/>
            <a:ext cx="2325439" cy="216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Overwhelming Choices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4167857" y="1566490"/>
            <a:ext cx="4294436" cy="467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Students face difficulty selecting suitable academic projects from a vast, unfiltered pool of options.</a:t>
            </a:r>
            <a:endParaRPr lang="en-US" sz="1150" dirty="0"/>
          </a:p>
        </p:txBody>
      </p:sp>
      <p:sp>
        <p:nvSpPr>
          <p:cNvPr id="8" name="Shape 4"/>
          <p:cNvSpPr/>
          <p:nvPr/>
        </p:nvSpPr>
        <p:spPr>
          <a:xfrm>
            <a:off x="3944392" y="2345234"/>
            <a:ext cx="4684216" cy="1103561"/>
          </a:xfrm>
          <a:prstGeom prst="roundRect">
            <a:avLst>
              <a:gd name="adj" fmla="val 8286"/>
            </a:avLst>
          </a:prstGeom>
          <a:solidFill>
            <a:srgbClr val="252833"/>
          </a:solidFill>
          <a:ln w="19050">
            <a:solidFill>
              <a:srgbClr val="5D606B"/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5342" y="2345234"/>
            <a:ext cx="76200" cy="110356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167857" y="2511549"/>
            <a:ext cx="2926705" cy="216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Lack of Personalized Guidance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4167857" y="2815010"/>
            <a:ext cx="4294436" cy="467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Conventional approaches ignore individual skills, interests, and experience levels entirely.</a:t>
            </a:r>
            <a:endParaRPr lang="en-US" sz="1150" dirty="0"/>
          </a:p>
        </p:txBody>
      </p:sp>
      <p:sp>
        <p:nvSpPr>
          <p:cNvPr id="12" name="Shape 7"/>
          <p:cNvSpPr/>
          <p:nvPr/>
        </p:nvSpPr>
        <p:spPr>
          <a:xfrm>
            <a:off x="3944392" y="3593753"/>
            <a:ext cx="4684216" cy="1103561"/>
          </a:xfrm>
          <a:prstGeom prst="roundRect">
            <a:avLst>
              <a:gd name="adj" fmla="val 8286"/>
            </a:avLst>
          </a:prstGeom>
          <a:solidFill>
            <a:srgbClr val="252833"/>
          </a:solidFill>
          <a:ln w="19050">
            <a:solidFill>
              <a:srgbClr val="5D606B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5342" y="3593753"/>
            <a:ext cx="76200" cy="110356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167857" y="3760068"/>
            <a:ext cx="2189783" cy="216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No Intelligent System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4167857" y="4063529"/>
            <a:ext cx="4294436" cy="467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There is a clear need for an AI-driven tool that matches students to projects using structured reasoning.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69404"/>
            <a:ext cx="22173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49F8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Goals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523577" y="749201"/>
            <a:ext cx="4499670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Objectives of the System</a:t>
            </a:r>
            <a:endParaRPr lang="en-US" sz="2750" dirty="0"/>
          </a:p>
        </p:txBody>
      </p:sp>
      <p:sp>
        <p:nvSpPr>
          <p:cNvPr id="4" name="Shape 2"/>
          <p:cNvSpPr/>
          <p:nvPr/>
        </p:nvSpPr>
        <p:spPr>
          <a:xfrm>
            <a:off x="523577" y="1637928"/>
            <a:ext cx="3973637" cy="1331119"/>
          </a:xfrm>
          <a:prstGeom prst="roundRect">
            <a:avLst>
              <a:gd name="adj" fmla="val 6869"/>
            </a:avLst>
          </a:prstGeom>
          <a:solidFill>
            <a:srgbClr val="252833"/>
          </a:solidFill>
          <a:ln w="19050">
            <a:solidFill>
              <a:srgbClr val="5D606B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1618878"/>
            <a:ext cx="3973637" cy="7620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5963" y="1413570"/>
            <a:ext cx="448791" cy="44879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191978" y="1525786"/>
            <a:ext cx="408087" cy="2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692200" y="2011933"/>
            <a:ext cx="2515121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Smart Recommendations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692200" y="2321644"/>
            <a:ext cx="3636392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Match students with suitable projects based on declared skills and interests.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4646786" y="1637928"/>
            <a:ext cx="3973637" cy="1331119"/>
          </a:xfrm>
          <a:prstGeom prst="roundRect">
            <a:avLst>
              <a:gd name="adj" fmla="val 6869"/>
            </a:avLst>
          </a:prstGeom>
          <a:solidFill>
            <a:srgbClr val="252833"/>
          </a:solidFill>
          <a:ln w="19050">
            <a:solidFill>
              <a:srgbClr val="5D606B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6786" y="1618878"/>
            <a:ext cx="3973637" cy="76200"/>
          </a:xfrm>
          <a:prstGeom prst="rect">
            <a:avLst/>
          </a:prstGeom>
        </p:spPr>
      </p:pic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9172" y="1413570"/>
            <a:ext cx="448791" cy="44879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315187" y="1525786"/>
            <a:ext cx="408087" cy="2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8"/>
          <p:cNvSpPr/>
          <p:nvPr/>
        </p:nvSpPr>
        <p:spPr>
          <a:xfrm>
            <a:off x="4815408" y="2011933"/>
            <a:ext cx="2363465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Skill &amp; Interest Analysis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4815408" y="2321644"/>
            <a:ext cx="3636392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Evaluate user inputs to build a learner profile and identify the best project fit.</a:t>
            </a:r>
            <a:endParaRPr lang="en-US" sz="1150" dirty="0"/>
          </a:p>
        </p:txBody>
      </p:sp>
      <p:sp>
        <p:nvSpPr>
          <p:cNvPr id="16" name="Shape 10"/>
          <p:cNvSpPr/>
          <p:nvPr/>
        </p:nvSpPr>
        <p:spPr>
          <a:xfrm>
            <a:off x="523577" y="3342977"/>
            <a:ext cx="3973637" cy="1331119"/>
          </a:xfrm>
          <a:prstGeom prst="roundRect">
            <a:avLst>
              <a:gd name="adj" fmla="val 6869"/>
            </a:avLst>
          </a:prstGeom>
          <a:solidFill>
            <a:srgbClr val="252833"/>
          </a:solidFill>
          <a:ln w="19050">
            <a:solidFill>
              <a:srgbClr val="5D606B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577" y="3323927"/>
            <a:ext cx="3973637" cy="76200"/>
          </a:xfrm>
          <a:prstGeom prst="rect">
            <a:avLst/>
          </a:prstGeom>
        </p:spPr>
      </p:pic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5963" y="3118619"/>
            <a:ext cx="448791" cy="448791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2191978" y="3230835"/>
            <a:ext cx="408087" cy="2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2"/>
          <p:cNvSpPr/>
          <p:nvPr/>
        </p:nvSpPr>
        <p:spPr>
          <a:xfrm>
            <a:off x="692200" y="3716982"/>
            <a:ext cx="22173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AI Rule-Based Logic</a:t>
            </a:r>
            <a:endParaRPr lang="en-US" sz="1350" dirty="0"/>
          </a:p>
        </p:txBody>
      </p:sp>
      <p:sp>
        <p:nvSpPr>
          <p:cNvPr id="21" name="Text 13"/>
          <p:cNvSpPr/>
          <p:nvPr/>
        </p:nvSpPr>
        <p:spPr>
          <a:xfrm>
            <a:off x="692200" y="4026694"/>
            <a:ext cx="3636392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Apply IF-THEN inference rules to simulate expert-level academic advising.</a:t>
            </a:r>
            <a:endParaRPr lang="en-US" sz="1150" dirty="0"/>
          </a:p>
        </p:txBody>
      </p:sp>
      <p:sp>
        <p:nvSpPr>
          <p:cNvPr id="22" name="Shape 14"/>
          <p:cNvSpPr/>
          <p:nvPr/>
        </p:nvSpPr>
        <p:spPr>
          <a:xfrm>
            <a:off x="4646786" y="3342977"/>
            <a:ext cx="3973637" cy="1331119"/>
          </a:xfrm>
          <a:prstGeom prst="roundRect">
            <a:avLst>
              <a:gd name="adj" fmla="val 6869"/>
            </a:avLst>
          </a:prstGeom>
          <a:solidFill>
            <a:srgbClr val="252833"/>
          </a:solidFill>
          <a:ln w="19050">
            <a:solidFill>
              <a:srgbClr val="5D606B"/>
            </a:solidFill>
            <a:prstDash val="solid"/>
          </a:ln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6786" y="3323927"/>
            <a:ext cx="3973637" cy="76200"/>
          </a:xfrm>
          <a:prstGeom prst="rect">
            <a:avLst/>
          </a:prstGeom>
        </p:spPr>
      </p:pic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9172" y="3118619"/>
            <a:ext cx="448791" cy="448791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6315187" y="3230835"/>
            <a:ext cx="408087" cy="2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16"/>
          <p:cNvSpPr/>
          <p:nvPr/>
        </p:nvSpPr>
        <p:spPr>
          <a:xfrm>
            <a:off x="4815408" y="3716982"/>
            <a:ext cx="2588270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Implementation Guidance</a:t>
            </a:r>
            <a:endParaRPr lang="en-US" sz="1350" dirty="0"/>
          </a:p>
        </p:txBody>
      </p:sp>
      <p:sp>
        <p:nvSpPr>
          <p:cNvPr id="27" name="Text 17"/>
          <p:cNvSpPr/>
          <p:nvPr/>
        </p:nvSpPr>
        <p:spPr>
          <a:xfrm>
            <a:off x="4815408" y="4026694"/>
            <a:ext cx="3636392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Provide step-by-step development roadmaps and curated learning resources.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6353" y="501997"/>
            <a:ext cx="2024807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C49F8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66353" y="745331"/>
            <a:ext cx="3592413" cy="391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Technologies Used</a:t>
            </a:r>
            <a:endParaRPr lang="en-US" sz="2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6353" y="1315194"/>
            <a:ext cx="266477" cy="26647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66353" y="1729978"/>
            <a:ext cx="2024807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HTML5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66353" y="1997050"/>
            <a:ext cx="4488656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Structures the user interface and content layout of the web application.</a:t>
            </a:r>
            <a:endParaRPr lang="en-US" sz="10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6116" y="1315194"/>
            <a:ext cx="266477" cy="26647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46116" y="1729978"/>
            <a:ext cx="2024807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CSS3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646116" y="1997050"/>
            <a:ext cx="4488731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Delivers responsive, modern styling and a clean visual design.</a:t>
            </a:r>
            <a:endParaRPr lang="en-US" sz="10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6353" y="2435870"/>
            <a:ext cx="266477" cy="26647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66353" y="2850654"/>
            <a:ext cx="2024807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JavaScript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466353" y="3117726"/>
            <a:ext cx="4488656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Powers the inference engine and all rule-based recommendation logic.</a:t>
            </a:r>
            <a:endParaRPr lang="en-US" sz="10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46116" y="2435870"/>
            <a:ext cx="266477" cy="26647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646116" y="2850654"/>
            <a:ext cx="2024807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VS Code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4646116" y="3117726"/>
            <a:ext cx="4488731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Primary development environment used to build and debug the project.</a:t>
            </a:r>
            <a:endParaRPr lang="en-US" sz="10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6353" y="3556546"/>
            <a:ext cx="266477" cy="266477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66353" y="3971330"/>
            <a:ext cx="2024807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GitHub</a:t>
            </a:r>
            <a:endParaRPr lang="en-US" sz="1200" dirty="0"/>
          </a:p>
        </p:txBody>
      </p:sp>
      <p:sp>
        <p:nvSpPr>
          <p:cNvPr id="18" name="Text 11"/>
          <p:cNvSpPr/>
          <p:nvPr/>
        </p:nvSpPr>
        <p:spPr>
          <a:xfrm>
            <a:off x="466353" y="4238402"/>
            <a:ext cx="4031456" cy="403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Version control and source code management for collaborative development.</a:t>
            </a:r>
            <a:endParaRPr lang="en-US" sz="10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46116" y="3556546"/>
            <a:ext cx="266477" cy="266477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4646116" y="3971330"/>
            <a:ext cx="2024807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Netlify</a:t>
            </a:r>
            <a:endParaRPr lang="en-US" sz="1200" dirty="0"/>
          </a:p>
        </p:txBody>
      </p:sp>
      <p:sp>
        <p:nvSpPr>
          <p:cNvPr id="21" name="Text 13"/>
          <p:cNvSpPr/>
          <p:nvPr/>
        </p:nvSpPr>
        <p:spPr>
          <a:xfrm>
            <a:off x="4646116" y="4238402"/>
            <a:ext cx="4488731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Cloud platform used to deploy and host the live web application.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2562" y="347365"/>
            <a:ext cx="1804764" cy="168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49F8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AI Foundation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52562" y="550813"/>
            <a:ext cx="3668316" cy="336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Core AI Concepts Applied</a:t>
            </a:r>
            <a:endParaRPr lang="en-US" sz="2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562" y="1117774"/>
            <a:ext cx="3579688" cy="3579688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562" y="1117774"/>
            <a:ext cx="3579688" cy="3579688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59300" y="1731652"/>
            <a:ext cx="171748" cy="171748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5088582" y="1728118"/>
            <a:ext cx="1804764" cy="168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Expert System</a:t>
            </a:r>
            <a:endParaRPr lang="en-US" sz="1050" dirty="0"/>
          </a:p>
        </p:txBody>
      </p:sp>
      <p:sp>
        <p:nvSpPr>
          <p:cNvPr id="8" name="Text 3"/>
          <p:cNvSpPr/>
          <p:nvPr/>
        </p:nvSpPr>
        <p:spPr>
          <a:xfrm>
            <a:off x="5088582" y="1984177"/>
            <a:ext cx="3664669" cy="161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Mimics a human advisor's domain knowledge.</a:t>
            </a:r>
            <a:endParaRPr lang="en-US" sz="9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59300" y="2324807"/>
            <a:ext cx="171748" cy="171748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5088582" y="2321272"/>
            <a:ext cx="1804764" cy="168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Rule-Based System</a:t>
            </a:r>
            <a:endParaRPr lang="en-US" sz="1050" dirty="0"/>
          </a:p>
        </p:txBody>
      </p:sp>
      <p:sp>
        <p:nvSpPr>
          <p:cNvPr id="11" name="Text 5"/>
          <p:cNvSpPr/>
          <p:nvPr/>
        </p:nvSpPr>
        <p:spPr>
          <a:xfrm>
            <a:off x="5088582" y="2577331"/>
            <a:ext cx="3664669" cy="161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Uses predefined logical rules to guide decisions.</a:t>
            </a:r>
            <a:endParaRPr lang="en-US" sz="9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59300" y="2917961"/>
            <a:ext cx="171748" cy="171748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5088582" y="2914427"/>
            <a:ext cx="1804764" cy="168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IF-THEN Rules</a:t>
            </a:r>
            <a:endParaRPr lang="en-US" sz="1050" dirty="0"/>
          </a:p>
        </p:txBody>
      </p:sp>
      <p:sp>
        <p:nvSpPr>
          <p:cNvPr id="14" name="Text 7"/>
          <p:cNvSpPr/>
          <p:nvPr/>
        </p:nvSpPr>
        <p:spPr>
          <a:xfrm>
            <a:off x="5088582" y="3170486"/>
            <a:ext cx="3207469" cy="3234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Core inference mechanism: </a:t>
            </a:r>
            <a:pPr algn="l" indent="0" marL="0">
              <a:lnSpc>
                <a:spcPct val="118000"/>
              </a:lnSpc>
              <a:buNone/>
            </a:pPr>
            <a:r>
              <a:rPr lang="en-US" sz="900" i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If skill=Python, Then recommend ML project.</a:t>
            </a:r>
            <a:endParaRPr lang="en-US" sz="90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59300" y="3672818"/>
            <a:ext cx="171748" cy="171748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5088582" y="3669283"/>
            <a:ext cx="1804764" cy="168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Forward Chaining</a:t>
            </a:r>
            <a:endParaRPr lang="en-US" sz="1050" dirty="0"/>
          </a:p>
        </p:txBody>
      </p:sp>
      <p:sp>
        <p:nvSpPr>
          <p:cNvPr id="17" name="Text 9"/>
          <p:cNvSpPr/>
          <p:nvPr/>
        </p:nvSpPr>
        <p:spPr>
          <a:xfrm>
            <a:off x="5088582" y="3925342"/>
            <a:ext cx="3664669" cy="161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Data-driven reasoning — starts from inputs to reach conclusions.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9982" y="462781"/>
            <a:ext cx="1969815" cy="18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C49F8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How It Works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49982" y="695995"/>
            <a:ext cx="3482429" cy="378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System Workflow</a:t>
            </a:r>
            <a:endParaRPr lang="en-US" sz="23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6465" y="1239813"/>
            <a:ext cx="6410995" cy="2934072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42615" y="1972372"/>
            <a:ext cx="412193" cy="41219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275376" y="3374988"/>
            <a:ext cx="1203604" cy="436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Output Delivered</a:t>
            </a:r>
            <a:endParaRPr lang="en-US" sz="13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33601" y="1973145"/>
            <a:ext cx="412193" cy="41219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758505" y="3374988"/>
            <a:ext cx="1203604" cy="436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Project Matching</a:t>
            </a:r>
            <a:endParaRPr lang="en-US" sz="13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24974" y="1973145"/>
            <a:ext cx="412193" cy="412193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3249878" y="3374988"/>
            <a:ext cx="1203604" cy="436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Rule Processing</a:t>
            </a:r>
            <a:endParaRPr lang="en-US" sz="135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108102" y="1973145"/>
            <a:ext cx="412193" cy="412193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708275" y="3374988"/>
            <a:ext cx="1203604" cy="436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Student Inputs</a:t>
            </a:r>
            <a:endParaRPr lang="en-US" sz="1350" dirty="0"/>
          </a:p>
        </p:txBody>
      </p:sp>
      <p:sp>
        <p:nvSpPr>
          <p:cNvPr id="13" name="Text 6"/>
          <p:cNvSpPr/>
          <p:nvPr/>
        </p:nvSpPr>
        <p:spPr>
          <a:xfrm>
            <a:off x="449982" y="4298156"/>
            <a:ext cx="8244036" cy="382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system processes student inputs in real time through a JavaScript inference engine. Matching rules fire sequentially using </a:t>
            </a:r>
            <a:pPr algn="l" indent="0" marL="0">
              <a:lnSpc>
                <a:spcPct val="124000"/>
              </a:lnSpc>
              <a:buNone/>
            </a:pPr>
            <a:r>
              <a:rPr lang="en-US" sz="10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forward chaining</a:t>
            </a:r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producing a tailored project recommendation complete with difficulty level, required technologies, and curated learning resources — all within seconds.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44392" y="413445"/>
            <a:ext cx="4824189" cy="433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Key Features of the System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3944392" y="1064047"/>
            <a:ext cx="2269629" cy="2102495"/>
          </a:xfrm>
          <a:prstGeom prst="roundRect">
            <a:avLst>
              <a:gd name="adj" fmla="val 1051"/>
            </a:avLst>
          </a:prstGeom>
          <a:solidFill>
            <a:srgbClr val="444752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1657" y="1211312"/>
            <a:ext cx="441796" cy="441796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13175" y="1332830"/>
            <a:ext cx="198760" cy="19876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4091657" y="1798067"/>
            <a:ext cx="1975098" cy="433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Detailed Recommendations</a:t>
            </a:r>
            <a:endParaRPr lang="en-US" sz="1350" dirty="0"/>
          </a:p>
        </p:txBody>
      </p:sp>
      <p:sp>
        <p:nvSpPr>
          <p:cNvPr id="8" name="Text 3"/>
          <p:cNvSpPr/>
          <p:nvPr/>
        </p:nvSpPr>
        <p:spPr>
          <a:xfrm>
            <a:off x="4091657" y="2318072"/>
            <a:ext cx="1975098" cy="7012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Full project descriptions with difficulty ratings and tech requirements.</a:t>
            </a:r>
            <a:endParaRPr lang="en-US" sz="1150" dirty="0"/>
          </a:p>
        </p:txBody>
      </p:sp>
      <p:sp>
        <p:nvSpPr>
          <p:cNvPr id="9" name="Shape 4"/>
          <p:cNvSpPr/>
          <p:nvPr/>
        </p:nvSpPr>
        <p:spPr>
          <a:xfrm>
            <a:off x="6358979" y="1064047"/>
            <a:ext cx="2269629" cy="2102495"/>
          </a:xfrm>
          <a:prstGeom prst="roundRect">
            <a:avLst>
              <a:gd name="adj" fmla="val 1051"/>
            </a:avLst>
          </a:prstGeom>
          <a:solidFill>
            <a:srgbClr val="444752"/>
          </a:solidFill>
          <a:ln/>
        </p:spPr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6245" y="1211312"/>
            <a:ext cx="441796" cy="441796"/>
          </a:xfrm>
          <a:prstGeom prst="rect">
            <a:avLst/>
          </a:prstGeom>
        </p:spPr>
      </p:pic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27763" y="1332830"/>
            <a:ext cx="198760" cy="19876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6506245" y="1798067"/>
            <a:ext cx="2189783" cy="216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Learning Resources</a:t>
            </a:r>
            <a:endParaRPr lang="en-US" sz="1350" dirty="0"/>
          </a:p>
        </p:txBody>
      </p:sp>
      <p:sp>
        <p:nvSpPr>
          <p:cNvPr id="13" name="Text 6"/>
          <p:cNvSpPr/>
          <p:nvPr/>
        </p:nvSpPr>
        <p:spPr>
          <a:xfrm>
            <a:off x="6506245" y="2101528"/>
            <a:ext cx="1975098" cy="7012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Curated links to tutorials, documentation, and reference websites.</a:t>
            </a:r>
            <a:endParaRPr lang="en-US" sz="1150" dirty="0"/>
          </a:p>
        </p:txBody>
      </p:sp>
      <p:sp>
        <p:nvSpPr>
          <p:cNvPr id="14" name="Shape 7"/>
          <p:cNvSpPr/>
          <p:nvPr/>
        </p:nvSpPr>
        <p:spPr>
          <a:xfrm>
            <a:off x="3944392" y="3311500"/>
            <a:ext cx="4684216" cy="1418481"/>
          </a:xfrm>
          <a:prstGeom prst="roundRect">
            <a:avLst>
              <a:gd name="adj" fmla="val 1557"/>
            </a:avLst>
          </a:prstGeom>
          <a:solidFill>
            <a:srgbClr val="444752"/>
          </a:solidFill>
          <a:ln/>
        </p:spPr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91657" y="3458766"/>
            <a:ext cx="441796" cy="441796"/>
          </a:xfrm>
          <a:prstGeom prst="rect">
            <a:avLst/>
          </a:prstGeom>
        </p:spPr>
      </p:pic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213175" y="3580284"/>
            <a:ext cx="198760" cy="198760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4091657" y="4045521"/>
            <a:ext cx="2189783" cy="216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Responsive UI</a:t>
            </a:r>
            <a:endParaRPr lang="en-US" sz="1350" dirty="0"/>
          </a:p>
        </p:txBody>
      </p:sp>
      <p:sp>
        <p:nvSpPr>
          <p:cNvPr id="18" name="Text 9"/>
          <p:cNvSpPr/>
          <p:nvPr/>
        </p:nvSpPr>
        <p:spPr>
          <a:xfrm>
            <a:off x="4091657" y="4348981"/>
            <a:ext cx="4846886" cy="23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Clean, beginner-friendly interface that works across all screen sizes.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1004143"/>
            <a:ext cx="22173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49F8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Impact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523577" y="1283940"/>
            <a:ext cx="4644033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Advantages of the System</a:t>
            </a:r>
            <a:endParaRPr lang="en-US" sz="2750" dirty="0"/>
          </a:p>
        </p:txBody>
      </p:sp>
      <p:sp>
        <p:nvSpPr>
          <p:cNvPr id="4" name="Text 2"/>
          <p:cNvSpPr/>
          <p:nvPr/>
        </p:nvSpPr>
        <p:spPr>
          <a:xfrm>
            <a:off x="294977" y="2023095"/>
            <a:ext cx="2802880" cy="493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8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100%</a:t>
            </a:r>
            <a:endParaRPr lang="en-US" sz="3850" dirty="0"/>
          </a:p>
        </p:txBody>
      </p:sp>
      <p:sp>
        <p:nvSpPr>
          <p:cNvPr id="5" name="Text 3"/>
          <p:cNvSpPr/>
          <p:nvPr/>
        </p:nvSpPr>
        <p:spPr>
          <a:xfrm>
            <a:off x="702022" y="2703761"/>
            <a:ext cx="19887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Personalized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23577" y="3013472"/>
            <a:ext cx="2574280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Every recommendation is tailored to the individual student's profile.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056260" y="2023095"/>
            <a:ext cx="2802880" cy="493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8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0$</a:t>
            </a:r>
            <a:endParaRPr lang="en-US" sz="3850" dirty="0"/>
          </a:p>
        </p:txBody>
      </p:sp>
      <p:sp>
        <p:nvSpPr>
          <p:cNvPr id="8" name="Text 6"/>
          <p:cNvSpPr/>
          <p:nvPr/>
        </p:nvSpPr>
        <p:spPr>
          <a:xfrm>
            <a:off x="3463305" y="2703761"/>
            <a:ext cx="19887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Free to Use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284860" y="3013472"/>
            <a:ext cx="2574280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Fully open-source, hosted on Netlify — no cost to any student.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817543" y="2023095"/>
            <a:ext cx="2802880" cy="493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8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AI</a:t>
            </a:r>
            <a:endParaRPr lang="en-US" sz="3850" dirty="0"/>
          </a:p>
        </p:txBody>
      </p:sp>
      <p:sp>
        <p:nvSpPr>
          <p:cNvPr id="11" name="Text 9"/>
          <p:cNvSpPr/>
          <p:nvPr/>
        </p:nvSpPr>
        <p:spPr>
          <a:xfrm>
            <a:off x="6224588" y="2703761"/>
            <a:ext cx="19887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Practical AI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046143" y="3013472"/>
            <a:ext cx="2574280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Demonstrates real AI concepts in a tangible, accessible web application.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23577" y="3660502"/>
            <a:ext cx="8096845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By combining intelligent rule-based logic with a clean, accessible interface, this system helps students save time, reduce confusion, and make confident, well-informed project decisions — all without requiring any prior technical expertise.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6353" y="370880"/>
            <a:ext cx="2353642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C49F8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What's Next &amp; 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66353" y="614214"/>
            <a:ext cx="5619452" cy="391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Future Enhancements &amp; Takeaways</a:t>
            </a:r>
            <a:endParaRPr lang="en-US" sz="2450" dirty="0"/>
          </a:p>
        </p:txBody>
      </p:sp>
      <p:sp>
        <p:nvSpPr>
          <p:cNvPr id="4" name="Text 2"/>
          <p:cNvSpPr/>
          <p:nvPr/>
        </p:nvSpPr>
        <p:spPr>
          <a:xfrm>
            <a:off x="466353" y="1302693"/>
            <a:ext cx="2166045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Planned Enhancements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66353" y="1632124"/>
            <a:ext cx="723677" cy="1665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Lora Light" pitchFamily="34" charset="0"/>
                <a:ea typeface="Lora Light" pitchFamily="34" charset="-122"/>
                <a:cs typeface="Lora Light" pitchFamily="34" charset="-120"/>
              </a:rPr>
              <a:t>01</a:t>
            </a:r>
            <a:endParaRPr lang="en-US" sz="1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53" y="1844278"/>
            <a:ext cx="3943127" cy="142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66353" y="1939454"/>
            <a:ext cx="2625849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Machine Learning Integration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66353" y="2254002"/>
            <a:ext cx="4400327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Adaptive recommendations that improve with usage data.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66353" y="2673995"/>
            <a:ext cx="723677" cy="1665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Lora Light" pitchFamily="34" charset="0"/>
                <a:ea typeface="Lora Light" pitchFamily="34" charset="-122"/>
                <a:cs typeface="Lora Light" pitchFamily="34" charset="-120"/>
              </a:rPr>
              <a:t>02</a:t>
            </a:r>
            <a:endParaRPr lang="en-US" sz="10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53" y="2872829"/>
            <a:ext cx="3943127" cy="1428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6353" y="2981325"/>
            <a:ext cx="2024807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User Login &amp; Profiles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66353" y="3295873"/>
            <a:ext cx="4400327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Save progress, revisit recommendations, and track learning goals.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466353" y="3715866"/>
            <a:ext cx="723677" cy="1665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Lora Light" pitchFamily="34" charset="0"/>
                <a:ea typeface="Lora Light" pitchFamily="34" charset="-122"/>
                <a:cs typeface="Lora Light" pitchFamily="34" charset="-120"/>
              </a:rPr>
              <a:t>03</a:t>
            </a:r>
            <a:endParaRPr lang="en-US" sz="10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53" y="3901380"/>
            <a:ext cx="3943127" cy="1428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66353" y="4023196"/>
            <a:ext cx="2067818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Chatbot &amp; PDF Export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466353" y="4337745"/>
            <a:ext cx="4400327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Conversational guidance and downloadable project reports.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4643363" y="1224037"/>
            <a:ext cx="4134966" cy="3508623"/>
          </a:xfrm>
          <a:prstGeom prst="roundRect">
            <a:avLst>
              <a:gd name="adj" fmla="val 570"/>
            </a:avLst>
          </a:prstGeom>
          <a:solidFill>
            <a:srgbClr val="C49F8C"/>
          </a:solidFill>
          <a:ln/>
        </p:spPr>
      </p:sp>
      <p:sp>
        <p:nvSpPr>
          <p:cNvPr id="18" name="Text 13"/>
          <p:cNvSpPr/>
          <p:nvPr/>
        </p:nvSpPr>
        <p:spPr>
          <a:xfrm>
            <a:off x="4776564" y="1302693"/>
            <a:ext cx="2024807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776564" y="1617241"/>
            <a:ext cx="3868564" cy="8060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This project demonstrates how </a:t>
            </a:r>
            <a:pPr algn="l" indent="0" marL="0">
              <a:lnSpc>
                <a:spcPct val="126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expert systems and AI rule-based logic</a:t>
            </a:r>
            <a:pPr algn="l"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can solve real academic challenges. By bridging the gap between student potential and project selection, it showcases the practical power of artificial intelligence in education.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4776564" y="2530078"/>
            <a:ext cx="3868564" cy="403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Intelligent recommendation systems are the future of </a:t>
            </a:r>
            <a:pPr algn="l" indent="0" marL="0">
              <a:lnSpc>
                <a:spcPct val="126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personalized academic guidance</a:t>
            </a:r>
            <a:pPr algn="l"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and this project is a meaningful first step.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4776564" y="3039889"/>
            <a:ext cx="3868564" cy="403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LINK :</a:t>
            </a:r>
            <a:pPr algn="l" indent="0" marL="0">
              <a:lnSpc>
                <a:spcPct val="126000"/>
              </a:lnSpc>
              <a:buNone/>
            </a:pPr>
            <a:r>
              <a:rPr lang="en-US" sz="1000" b="1" u="sng" dirty="0">
                <a:solidFill>
                  <a:srgbClr val="4904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https://chetanay1636-afk.github.io/course-project-expert-system/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2026-05-16T16:03:02Z</dcterms:created>
  <dcterms:modified xsi:type="dcterms:W3CDTF">2026-05-16T16:03:02Z</dcterms:modified>
</cp:coreProperties>
</file>